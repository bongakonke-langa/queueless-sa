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c5eb64160ca4229" /><Relationship Type="http://schemas.openxmlformats.org/officeDocument/2006/relationships/extended-properties" Target="/docProps/app.xml" Id="R5ee26125a2be4535" /><Relationship Type="http://schemas.openxmlformats.org/officeDocument/2006/relationships/officeDocument" Target="/ppt/presentation.xml" Id="Rc0a1316b63044dc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d6a696873cb4c67"/>
  </p:sldMasterIdLst>
  <p:notesMasterIdLst>
    <p:notesMasterId xmlns:r="http://schemas.openxmlformats.org/officeDocument/2006/relationships" r:id="R1d3e4a3aee8d402a"/>
  </p:notesMasterIdLst>
  <p:sldIdLst>
    <p:sldId xmlns:r="http://schemas.openxmlformats.org/officeDocument/2006/relationships" id="256" r:id="R5d3152ded98d4d21"/>
    <p:sldId xmlns:r="http://schemas.openxmlformats.org/officeDocument/2006/relationships" id="257" r:id="Rd2e2885a9e644018"/>
    <p:sldId xmlns:r="http://schemas.openxmlformats.org/officeDocument/2006/relationships" id="258" r:id="R88f59b677f024ae3"/>
    <p:sldId xmlns:r="http://schemas.openxmlformats.org/officeDocument/2006/relationships" id="259" r:id="R4665b029ad5a40d7"/>
    <p:sldId xmlns:r="http://schemas.openxmlformats.org/officeDocument/2006/relationships" id="260" r:id="R27fa96f6b88c4357"/>
    <p:sldId xmlns:r="http://schemas.openxmlformats.org/officeDocument/2006/relationships" id="261" r:id="Rdd8cebf48feb4752"/>
    <p:sldId xmlns:r="http://schemas.openxmlformats.org/officeDocument/2006/relationships" id="262" r:id="Rab8bf1d364b9403f"/>
    <p:sldId xmlns:r="http://schemas.openxmlformats.org/officeDocument/2006/relationships" id="263" r:id="Rd9d4c458b1924375"/>
    <p:sldId xmlns:r="http://schemas.openxmlformats.org/officeDocument/2006/relationships" id="264" r:id="R017a44331791497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fa403eafa6746dc" /><Relationship Type="http://schemas.openxmlformats.org/officeDocument/2006/relationships/slideMaster" Target="/ppt/slideMasters/slideMaster1.xml" Id="Rbd6a696873cb4c67" /><Relationship Type="http://schemas.openxmlformats.org/officeDocument/2006/relationships/notesMaster" Target="/ppt/notesMasters/notesMaster1.xml" Id="R1d3e4a3aee8d402a" /><Relationship Type="http://schemas.openxmlformats.org/officeDocument/2006/relationships/presProps" Target="/ppt/presProps.xml" Id="R493fc7314dd648c0" /><Relationship Type="http://schemas.openxmlformats.org/officeDocument/2006/relationships/tableStyles" Target="/ppt/tableStyles.xml" Id="R4d202599ef4f4482" /><Relationship Type="http://schemas.openxmlformats.org/officeDocument/2006/relationships/slide" Target="/ppt/slides/slide1.xml" Id="R5d3152ded98d4d21" /><Relationship Type="http://schemas.openxmlformats.org/officeDocument/2006/relationships/slide" Target="/ppt/slides/slide2.xml" Id="Rd2e2885a9e644018" /><Relationship Type="http://schemas.openxmlformats.org/officeDocument/2006/relationships/slide" Target="/ppt/slides/slide3.xml" Id="R88f59b677f024ae3" /><Relationship Type="http://schemas.openxmlformats.org/officeDocument/2006/relationships/slide" Target="/ppt/slides/slide4.xml" Id="R4665b029ad5a40d7" /><Relationship Type="http://schemas.openxmlformats.org/officeDocument/2006/relationships/slide" Target="/ppt/slides/slide5.xml" Id="R27fa96f6b88c4357" /><Relationship Type="http://schemas.openxmlformats.org/officeDocument/2006/relationships/slide" Target="/ppt/slides/slide6.xml" Id="Rdd8cebf48feb4752" /><Relationship Type="http://schemas.openxmlformats.org/officeDocument/2006/relationships/slide" Target="/ppt/slides/slide7.xml" Id="Rab8bf1d364b9403f" /><Relationship Type="http://schemas.openxmlformats.org/officeDocument/2006/relationships/slide" Target="/ppt/slides/slide8.xml" Id="Rd9d4c458b1924375" /><Relationship Type="http://schemas.openxmlformats.org/officeDocument/2006/relationships/slide" Target="/ppt/slides/slide9.xml" Id="R017a44331791497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217358ff588480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1b587dea4f44043" /><Relationship Type="http://schemas.openxmlformats.org/officeDocument/2006/relationships/notesMaster" Target="/ppt/notesMasters/notesMaster1.xml" Id="R3fac9bd864fa48e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9a497186abf4f25" /><Relationship Type="http://schemas.openxmlformats.org/officeDocument/2006/relationships/notesMaster" Target="/ppt/notesMasters/notesMaster1.xml" Id="R47597879e6b24c5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a2838def6254d06" /><Relationship Type="http://schemas.openxmlformats.org/officeDocument/2006/relationships/notesMaster" Target="/ppt/notesMasters/notesMaster1.xml" Id="R86716083b844420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96e6cf4e1d940cc" /><Relationship Type="http://schemas.openxmlformats.org/officeDocument/2006/relationships/notesMaster" Target="/ppt/notesMasters/notesMaster1.xml" Id="R5bb2121244c54ec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e9d72519ad34f07" /><Relationship Type="http://schemas.openxmlformats.org/officeDocument/2006/relationships/notesMaster" Target="/ppt/notesMasters/notesMaster1.xml" Id="R1645e173160b42d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fe8a869077c4def" /><Relationship Type="http://schemas.openxmlformats.org/officeDocument/2006/relationships/notesMaster" Target="/ppt/notesMasters/notesMaster1.xml" Id="R1e2137ed30a0459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d9f5c426cbb4f62" /><Relationship Type="http://schemas.openxmlformats.org/officeDocument/2006/relationships/notesMaster" Target="/ppt/notesMasters/notesMaster1.xml" Id="Rb30519026dc0468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b1ede54f58946ee" /><Relationship Type="http://schemas.openxmlformats.org/officeDocument/2006/relationships/notesMaster" Target="/ppt/notesMasters/notesMaster1.xml" Id="R234d1f2c18414af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1015fa0622d4db5" /><Relationship Type="http://schemas.openxmlformats.org/officeDocument/2006/relationships/notesMaster" Target="/ppt/notesMasters/notesMaster1.xml" Id="R1d4f1af1d0994d7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Imagine waking up at 4 a.m. just to queue at Home Affairs, only to find hundreds of people already waiting. Some spend half the day there just to renew an ID or collect a document. QueueLess SA gives people back their time by allowing them to join a virtual queue, track their position in real time, and arrive only when they are about to be served.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QueueLess SA project-authored concept and prototype.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 the problem to the lack of visibility before a person travels.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QueueLess SA hackathon problem statement supplied by the project team.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Point to the verified queue list, selected search area, service map, GPS state, and direct Staff demo entry.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QueueLess SA working prototype screenshot, captured 7 August 2026.</a:t>
            </a:r>
          </a:p>
          <a:p xmlns:a="http://schemas.openxmlformats.org/drawingml/2006/main">
            <a:r>
              <a:t>- OpenStreetMap contributors: https://www.openstreetmap.org/copyright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live prototype to join, advance the queue, hear leave-now and next alerts, check in, mark the service complete, and show the updated Activity totals.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QueueLess SA working prototype screenshot, captured 7 August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 the live demo, close Pretoria Home Affairs, publish, and return to the citizen app to show the fresh status.</a:t>
            </a:r>
          </a:p>
          <a:p xmlns:a="http://schemas.openxmlformats.org/drawingml/2006/main">
            <a:r>
              <a:t>Explain that synthetic conditions prove the operating model; a pilot would connect a ticketing feed or authenticated staff account.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QueueLess SA working prototype screenshot and project-authored operating model, captured 7 August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Demonstrate the USSD menu and say clearly that production messaging providers are not connected in the prototype.</a:t>
            </a:r>
          </a:p>
          <a:p xmlns:a="http://schemas.openxmlformats.org/drawingml/2006/main">
            <a:r>
              <a:t>The creative angle is inclusion: QueueLess is designed for any phone, not only a smartphone with data.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QueueLess SA working prototype screenshot and project-authored access concept, captured 7 August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Pretoria as the live demo. The explicit Search button keeps API usage controlled.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QueueLess SA working prototype screenshot, captured 7 August 2026.</a:t>
            </a:r>
          </a:p>
          <a:p xmlns:a="http://schemas.openxmlformats.org/drawingml/2006/main">
            <a:r>
              <a:t>- Nominatim Search API: https://nominatim.org/release-docs/latest/api/Search/</a:t>
            </a:r>
          </a:p>
          <a:p xmlns:a="http://schemas.openxmlformats.org/drawingml/2006/main">
            <a:r>
              <a:t>- Nominatim Usage Policy: https://operations.osmfoundation.org/policies/nominatim/</a:t>
            </a:r>
          </a:p>
          <a:p xmlns:a="http://schemas.openxmlformats.org/drawingml/2006/main">
            <a:r>
              <a:t>- OpenStreetMap contributors: https://www.openstreetmap.org/copyright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this slide quick: every technology supports a feature visible in the demo.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QueueLess SA package.json and application source code.</a:t>
            </a:r>
          </a:p>
          <a:p xmlns:a="http://schemas.openxmlformats.org/drawingml/2006/main">
            <a:r>
              <a:t>- Nominatim Search API: https://nominatim.org/release-docs/latest/api/Search/</a:t>
            </a:r>
          </a:p>
          <a:p xmlns:a="http://schemas.openxmlformats.org/drawingml/2006/main">
            <a:r>
              <a:t>- OpenStreetMap copyright and attribution: https://www.openstreetmap.org/copyright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a concrete ask: approve one high-volume branch and one pilot period.</a:t>
            </a:r>
          </a:p>
          <a:p xmlns:a="http://schemas.openxmlformats.org/drawingml/2006/main">
            <a:r>
              <a:t>Our goal isn't just to reduce queues; it's to give South Africans back their time.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QueueLess SA project-authored pilot recommendation.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d6485802844aa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d50b5af7ceb4087" /><Relationship Type="http://schemas.openxmlformats.org/officeDocument/2006/relationships/slideLayout" Target="/ppt/slideLayouts/slideLayout1.xml" Id="Rcbb1bed5bec34a6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bb1bed5bec34a6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5353a6a9964e5d" /><Relationship Type="http://schemas.openxmlformats.org/officeDocument/2006/relationships/notesSlide" Target="/ppt/notesSlides/notesSlide1.xml" Id="R22534e4b5c9241e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f342e0f55c43a5" /><Relationship Type="http://schemas.openxmlformats.org/officeDocument/2006/relationships/notesSlide" Target="/ppt/notesSlides/notesSlide2.xml" Id="R34e9ce2826ed45a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847c93e14f43f7" /><Relationship Type="http://schemas.openxmlformats.org/officeDocument/2006/relationships/image" Target="/ppt/media/image.jpeg" Id="Rb622f2d601bc4ea0" /><Relationship Type="http://schemas.openxmlformats.org/officeDocument/2006/relationships/notesSlide" Target="/ppt/notesSlides/notesSlide3.xml" Id="R263838d12e8d4b5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338eaf86664e6d" /><Relationship Type="http://schemas.openxmlformats.org/officeDocument/2006/relationships/image" Target="/ppt/media/image2.jpeg" Id="Rd44e2fe020d94529" /><Relationship Type="http://schemas.openxmlformats.org/officeDocument/2006/relationships/notesSlide" Target="/ppt/notesSlides/notesSlide4.xml" Id="Rce0afc6c0966423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c344590ef34994" /><Relationship Type="http://schemas.openxmlformats.org/officeDocument/2006/relationships/image" Target="/ppt/media/image3.jpeg" Id="Rc501b71ca3c24299" /><Relationship Type="http://schemas.openxmlformats.org/officeDocument/2006/relationships/notesSlide" Target="/ppt/notesSlides/notesSlide5.xml" Id="R43b304cbc8844f0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fa7170724a4375" /><Relationship Type="http://schemas.openxmlformats.org/officeDocument/2006/relationships/image" Target="/ppt/media/image4.jpeg" Id="R6a92e2b5e5104057" /><Relationship Type="http://schemas.openxmlformats.org/officeDocument/2006/relationships/notesSlide" Target="/ppt/notesSlides/notesSlide6.xml" Id="R511c146d0838482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be5040355d45cc" /><Relationship Type="http://schemas.openxmlformats.org/officeDocument/2006/relationships/image" Target="/ppt/media/image5.jpeg" Id="R6ef5c667af5c4785" /><Relationship Type="http://schemas.openxmlformats.org/officeDocument/2006/relationships/notesSlide" Target="/ppt/notesSlides/notesSlide7.xml" Id="R6059bf7a0ae9499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a53d2fd7a0414b" /><Relationship Type="http://schemas.openxmlformats.org/officeDocument/2006/relationships/notesSlide" Target="/ppt/notesSlides/notesSlide8.xml" Id="R7ba7b8713788480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4fa0a8abc34cfb" /><Relationship Type="http://schemas.openxmlformats.org/officeDocument/2006/relationships/notesSlide" Target="/ppt/notesSlides/notesSlide9.xml" Id="R8f67299e47b64ff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C842702B-F60C-4BA5-9A56-6363C63B9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800"/>
              </a:spcAft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Give people back the time they lose waiting.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8F7170C1-A9E5-4DB0-816D-6ED8A4099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working citizen and service-centre queue operating system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D94B376C-F6AC-4C11-9113-D7F2F3F36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87D6B"/>
                </a:solidFill>
                <a:latin typeface="Helvetica Neue"/>
                <a:ea typeface="Helvetica Neue"/>
                <a:cs typeface="Helvetica Neue"/>
              </a:rPr>
              <a:t>QUEUELESS SA</a:t>
            </a:r>
          </a:p>
        </p:txBody>
      </p:sp>
    </p:spTree>
    <p:extLst>
      <p:ext uri="{BB962C8B-B14F-4D97-AF65-F5344CB8AC3E}">
        <p14:creationId xmlns:p14="http://schemas.microsoft.com/office/powerpoint/2010/main" val="135261335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A95DB354-9AC5-4343-ACBF-8615CC2A8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24312EEA-BCAF-41D1-A421-3FD1C6AEB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80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queue starts costing people before service begins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208B1B4F-144A-434E-A6F0-EE85D8AFD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LOST INCOME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Hours away from work, family, or school.</a:t>
            </a:r>
          </a:p>
        </p:txBody>
      </p:sp>
      <p:sp>
        <p:nvSpPr>
          <p:cNvPr id="4" name="Content-Placeholder-1-5">
            <a:extLst xmlns:a="http://schemas.openxmlformats.org/drawingml/2006/main">
              <a:ext uri="{FF2B5EF4-FFF2-40B4-BE49-F238E27FC236}">
                <a16:creationId xmlns:a16="http://schemas.microsoft.com/office/drawing/2014/main" id="{FFAA1B27-BCE2-4850-8464-F37810AA3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UNCERTAINTY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People travel without knowing the wait or outcome.</a:t>
            </a:r>
          </a:p>
        </p:txBody>
      </p:sp>
      <p:sp>
        <p:nvSpPr>
          <p:cNvPr id="5" name="Content-Placeholder-2-6">
            <a:extLst xmlns:a="http://schemas.openxmlformats.org/drawingml/2006/main">
              <a:ext uri="{FF2B5EF4-FFF2-40B4-BE49-F238E27FC236}">
                <a16:creationId xmlns:a16="http://schemas.microsoft.com/office/drawing/2014/main" id="{A51BAE8A-4F11-4BFE-B79E-EB8EF4D11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CROWDING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Too many people arrive at the same time.</a:t>
            </a:r>
          </a:p>
        </p:txBody>
      </p:sp>
    </p:spTree>
    <p:extLst>
      <p:ext uri="{BB962C8B-B14F-4D97-AF65-F5344CB8AC3E}">
        <p14:creationId xmlns:p14="http://schemas.microsoft.com/office/powerpoint/2010/main" val="204559714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71F003D1-E3E7-4892-863F-7E4E2CFD0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74202B52-0F10-43D7-A6C3-60AADC636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80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queue becomes visible</a:t>
            </a:r>
          </a:p>
        </p:txBody>
      </p:sp>
      <p:sp>
        <p:nvSpPr>
          <p:cNvPr id="3" name="Picture-3-4-backing">
            <a:extLst xmlns:a="http://schemas.openxmlformats.org/drawingml/2006/main">
              <a:ext uri="{FF2B5EF4-FFF2-40B4-BE49-F238E27FC236}">
                <a16:creationId xmlns:a16="http://schemas.microsoft.com/office/drawing/2014/main" id="{B87B1DCE-8378-43BD-8773-255E6A4F0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C602A121-1EAA-414D-964A-ED8A8ECB6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Citizens plan with trusted information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Compare verified waits, capacity, services, distance and travel time before leaving. Staff updates and citizen decisions use the same branch state.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22f2d601bc4ea0"/>
          <a:stretch xmlns:a="http://schemas.openxmlformats.org/drawingml/2006/main"/>
        </p:blipFill>
        <p:spPr>
          <a:xfrm xmlns:a="http://schemas.openxmlformats.org/drawingml/2006/main">
            <a:off x="6269069" y="1466279"/>
            <a:ext cx="5539740" cy="346233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64036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2BF7FA15-1ABA-4F8A-A2ED-1C9346699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0475450F-D0C5-4484-B555-8463FEDDA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80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Citizens wait remotely and complete the visit</a:t>
            </a:r>
          </a:p>
        </p:txBody>
      </p:sp>
      <p:sp>
        <p:nvSpPr>
          <p:cNvPr id="3" name="Content-Placeholder-10-4">
            <a:extLst xmlns:a="http://schemas.openxmlformats.org/drawingml/2006/main">
              <a:ext uri="{FF2B5EF4-FFF2-40B4-BE49-F238E27FC236}">
                <a16:creationId xmlns:a16="http://schemas.microsoft.com/office/drawing/2014/main" id="{46600D8E-6D02-4C22-B3C5-C186004E0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74868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Join remotely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BB3A21EB-37DB-44B2-B7FC-6F5D90672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2374868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87D6B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Content-Placeholder-10-6">
            <a:extLst xmlns:a="http://schemas.openxmlformats.org/drawingml/2006/main">
              <a:ext uri="{FF2B5EF4-FFF2-40B4-BE49-F238E27FC236}">
                <a16:creationId xmlns:a16="http://schemas.microsoft.com/office/drawing/2014/main" id="{02886AD0-130D-4E81-AC5E-E6CF6E735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65468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Hear the leave-now alert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E5DCFBFC-D8B8-49A3-861E-536FD624E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3365468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87D6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5F4C4492-0681-432D-812A-6B5A039E8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56068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Navigate and check in</a:t>
            </a:r>
          </a:p>
        </p:txBody>
      </p:sp>
      <p:sp>
        <p:nvSpPr>
          <p:cNvPr id="8" name="Content-Placeholder-10-9">
            <a:extLst xmlns:a="http://schemas.openxmlformats.org/drawingml/2006/main">
              <a:ext uri="{FF2B5EF4-FFF2-40B4-BE49-F238E27FC236}">
                <a16:creationId xmlns:a16="http://schemas.microsoft.com/office/drawing/2014/main" id="{390609F8-3D1B-45BC-A3B2-A3E809A47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4356068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87D6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9" name="Content-Placeholder-10-10">
            <a:extLst xmlns:a="http://schemas.openxmlformats.org/drawingml/2006/main">
              <a:ext uri="{FF2B5EF4-FFF2-40B4-BE49-F238E27FC236}">
                <a16:creationId xmlns:a16="http://schemas.microsoft.com/office/drawing/2014/main" id="{B52B3BB9-E013-45B7-8B01-BD4DCF963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359432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Complete service; Activity updates</a:t>
            </a:r>
          </a:p>
        </p:txBody>
      </p:sp>
      <p:sp>
        <p:nvSpPr>
          <p:cNvPr id="10" name="Content-Placeholder-10-11">
            <a:extLst xmlns:a="http://schemas.openxmlformats.org/drawingml/2006/main">
              <a:ext uri="{FF2B5EF4-FFF2-40B4-BE49-F238E27FC236}">
                <a16:creationId xmlns:a16="http://schemas.microsoft.com/office/drawing/2014/main" id="{0D639E02-822B-4253-ADCF-97BCE8F12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5359432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87D6B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1" name="Google-Shape-534-p58-12">
            <a:extLst xmlns:a="http://schemas.openxmlformats.org/drawingml/2006/main">
              <a:ext uri="{FF2B5EF4-FFF2-40B4-BE49-F238E27FC236}">
                <a16:creationId xmlns:a16="http://schemas.microsoft.com/office/drawing/2014/main" id="{20B7B772-2134-484A-A40E-7E370B0F8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374868"/>
            <a:ext cx="3568732" cy="3619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/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4e2fe020d94529"/>
          <a:srcRect xmlns:a="http://schemas.openxmlformats.org/drawingml/2006/main" l="0" t="22559" r="0" b="225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809750"/>
            <a:ext cx="3568732" cy="4238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2049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4F5D9A40-2448-4C53-8492-65ACE9715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BB7A3030-67D1-49B8-BC5F-14989DD50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80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Staff publish live conditions</a:t>
            </a:r>
          </a:p>
        </p:txBody>
      </p:sp>
      <p:sp>
        <p:nvSpPr>
          <p:cNvPr id="3" name="Picture-3-4-backing">
            <a:extLst xmlns:a="http://schemas.openxmlformats.org/drawingml/2006/main">
              <a:ext uri="{FF2B5EF4-FFF2-40B4-BE49-F238E27FC236}">
                <a16:creationId xmlns:a16="http://schemas.microsoft.com/office/drawing/2014/main" id="{76CD9309-2EBB-4E33-9D74-5F6F35B27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EC5A8AA9-4E33-4B4C-B4D3-78FEBF8BA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visible source of queue data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Staff publish wait, people, counters, capacity, closures and service availability. Citizen screens update immediately with a verification time.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01b71ca3c24299"/>
          <a:srcRect xmlns:a="http://schemas.openxmlformats.org/drawingml/2006/main" l="19097" t="0" r="1909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28613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7C1C2C67-FE89-4E9F-9682-12AAF4C27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5975C5F0-1C94-4868-B27A-DE8786E83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80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QueueLess works without data</a:t>
            </a:r>
          </a:p>
        </p:txBody>
      </p:sp>
      <p:sp>
        <p:nvSpPr>
          <p:cNvPr id="3" name="Picture-3-4-backing">
            <a:extLst xmlns:a="http://schemas.openxmlformats.org/drawingml/2006/main">
              <a:ext uri="{FF2B5EF4-FFF2-40B4-BE49-F238E27FC236}">
                <a16:creationId xmlns:a16="http://schemas.microsoft.com/office/drawing/2014/main" id="{066539A9-FE9A-4908-9BBD-824F6E8A4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BCE4E980-F07E-4E1E-A49C-F1DE4DB50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One service, three access channels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same queue journey is demonstrated through SMS, WhatsApp and USSD. Full queues also offer appointments or distance-ranked alternatives.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92e2b5e5104057"/>
          <a:stretch xmlns:a="http://schemas.openxmlformats.org/drawingml/2006/main"/>
        </p:blipFill>
        <p:spPr>
          <a:xfrm xmlns:a="http://schemas.openxmlformats.org/drawingml/2006/main">
            <a:off x="7744631" y="396431"/>
            <a:ext cx="2588617" cy="560203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04079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47E2A5CF-6EC7-4E35-B495-05EDC750C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7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A9C4536F-CC72-4E81-AE28-62E105926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80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Search areas update live</a:t>
            </a:r>
          </a:p>
        </p:txBody>
      </p:sp>
      <p:sp>
        <p:nvSpPr>
          <p:cNvPr id="3" name="Picture-3-4-backing">
            <a:extLst xmlns:a="http://schemas.openxmlformats.org/drawingml/2006/main">
              <a:ext uri="{FF2B5EF4-FFF2-40B4-BE49-F238E27FC236}">
                <a16:creationId xmlns:a16="http://schemas.microsoft.com/office/drawing/2014/main" id="{8F4D21E5-81C2-45B1-BA37-162681EFE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C09DF546-2FF2-4C61-B7AE-2393136F7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Live search with proof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Search a real South African place. QueueLess recentres the map, recalculates nearby services and distances, notifies the user, and records the source and time in Activity.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f5c667af5c4785"/>
          <a:srcRect xmlns:a="http://schemas.openxmlformats.org/drawingml/2006/main" l="0" t="26636" r="0" b="266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486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679CAAF0-4BAD-48C9-8242-B37D411DF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8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96589186-53F6-4BC5-BE4B-A5B3A3938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80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Every tool supports something visible in the demo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4612DE58-3865-4638-874D-39F75E63C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8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GEOLOCATION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8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Precise position</a:t>
            </a:r>
          </a:p>
        </p:txBody>
      </p:sp>
      <p:sp>
        <p:nvSpPr>
          <p:cNvPr id="4" name="Text-Placeholder-16-5">
            <a:extLst xmlns:a="http://schemas.openxmlformats.org/drawingml/2006/main">
              <a:ext uri="{FF2B5EF4-FFF2-40B4-BE49-F238E27FC236}">
                <a16:creationId xmlns:a16="http://schemas.microsoft.com/office/drawing/2014/main" id="{34D70C2F-E408-4F22-ADCD-EBC62AD3A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88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80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WEB AUDIO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80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Sound alerts</a:t>
            </a:r>
          </a:p>
        </p:txBody>
      </p:sp>
      <p:sp>
        <p:nvSpPr>
          <p:cNvPr id="5" name="Content-Placeholder-17-6">
            <a:extLst xmlns:a="http://schemas.openxmlformats.org/drawingml/2006/main">
              <a:ext uri="{FF2B5EF4-FFF2-40B4-BE49-F238E27FC236}">
                <a16:creationId xmlns:a16="http://schemas.microsoft.com/office/drawing/2014/main" id="{8B06E6EA-9A82-4D92-B7C5-7C6BFAACB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8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LOCALSTORAGE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8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Device persistence</a:t>
            </a:r>
          </a:p>
        </p:txBody>
      </p:sp>
      <p:sp>
        <p:nvSpPr>
          <p:cNvPr id="6" name="Text-Placeholder-18-7">
            <a:extLst xmlns:a="http://schemas.openxmlformats.org/drawingml/2006/main">
              <a:ext uri="{FF2B5EF4-FFF2-40B4-BE49-F238E27FC236}">
                <a16:creationId xmlns:a16="http://schemas.microsoft.com/office/drawing/2014/main" id="{7A15ACB0-CCE5-4814-A625-3E4C189BD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722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80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GOOGLE MAPS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80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Turn-by-turn directions</a:t>
            </a:r>
          </a:p>
        </p:txBody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D8323113-BF39-4F0C-B1AC-4C6CE8399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8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NEXT.JS + REACT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8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 and interactions</a:t>
            </a:r>
          </a:p>
        </p:txBody>
      </p:sp>
      <p:sp>
        <p:nvSpPr>
          <p:cNvPr id="8" name="Text-Placeholder-16-9">
            <a:extLst xmlns:a="http://schemas.openxmlformats.org/drawingml/2006/main">
              <a:ext uri="{FF2B5EF4-FFF2-40B4-BE49-F238E27FC236}">
                <a16:creationId xmlns:a16="http://schemas.microsoft.com/office/drawing/2014/main" id="{D542C3C0-1A5E-4943-AE2B-E91F8C69B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88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80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LEAFLET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80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Map and markers</a:t>
            </a:r>
          </a:p>
        </p:txBody>
      </p:sp>
      <p:sp>
        <p:nvSpPr>
          <p:cNvPr id="9" name="Content-Placeholder-17-10">
            <a:extLst xmlns:a="http://schemas.openxmlformats.org/drawingml/2006/main">
              <a:ext uri="{FF2B5EF4-FFF2-40B4-BE49-F238E27FC236}">
                <a16:creationId xmlns:a16="http://schemas.microsoft.com/office/drawing/2014/main" id="{237520D0-0A65-4C69-B35F-364226869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8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OPENSTREETMAP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8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Tiles and place data</a:t>
            </a:r>
          </a:p>
        </p:txBody>
      </p:sp>
      <p:sp>
        <p:nvSpPr>
          <p:cNvPr id="10" name="Text-Placeholder-18-11">
            <a:extLst xmlns:a="http://schemas.openxmlformats.org/drawingml/2006/main">
              <a:ext uri="{FF2B5EF4-FFF2-40B4-BE49-F238E27FC236}">
                <a16:creationId xmlns:a16="http://schemas.microsoft.com/office/drawing/2014/main" id="{CF5BA814-1842-41E1-A403-1FB55717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722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80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NOMINATIM API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80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Live place search</a:t>
            </a:r>
          </a:p>
        </p:txBody>
      </p:sp>
    </p:spTree>
    <p:extLst>
      <p:ext uri="{BB962C8B-B14F-4D97-AF65-F5344CB8AC3E}">
        <p14:creationId xmlns:p14="http://schemas.microsoft.com/office/powerpoint/2010/main" val="53065053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EB336692-CE31-4CA8-9DAF-331F3943D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9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793BC2D5-A787-463D-BB6A-AB71EC41D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80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One pilot can prove how much time QueueLess returns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A902ECC8-2114-46D2-8054-B1142E8AD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0B587182-A77E-41F9-BCFF-6A1F7065A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A7E002DC-9E76-45CC-908E-3F8637605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97B66CAE-B415-4549-BC16-1C38EF10A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8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87D6B"/>
                </a:solidFill>
                <a:latin typeface="Helvetica Neue"/>
                <a:ea typeface="Helvetica Neue"/>
                <a:cs typeface="Helvetica Neue"/>
              </a:rPr>
              <a:t>CONNECT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29B19B54-ED67-4322-B75D-7EB982BF6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8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87D6B"/>
                </a:solidFill>
                <a:latin typeface="Helvetica Neue"/>
                <a:ea typeface="Helvetica Neue"/>
                <a:cs typeface="Helvetica Neue"/>
              </a:rPr>
              <a:t>PILOT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3D1179A8-3ACB-4828-9722-ED6F94452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8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87D6B"/>
                </a:solidFill>
                <a:latin typeface="Helvetica Neue"/>
                <a:ea typeface="Helvetica Neue"/>
                <a:cs typeface="Helvetica Neue"/>
              </a:rPr>
              <a:t>PROVE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751BCBD0-2EB1-40AF-8CD2-EB6CF5EB3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One high-volume branch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Train staff and launch citizen and low-data access.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FA1D303D-B058-4649-86F6-D0AF42B8A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One trusted queue feed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Link ticketing data or authenticated staff updates.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7A830A49-6CEC-4559-AEAB-E939E6AB0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One measurable result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Track waits, crowding, no-shows and hours returned.</a:t>
            </a:r>
          </a:p>
        </p:txBody>
      </p:sp>
    </p:spTree>
    <p:extLst>
      <p:ext uri="{BB962C8B-B14F-4D97-AF65-F5344CB8AC3E}">
        <p14:creationId xmlns:p14="http://schemas.microsoft.com/office/powerpoint/2010/main" val="3946578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2026-08-07T12:20:27.4860000Z</dcterms:created>
  <dcterms:modified xsi:type="dcterms:W3CDTF">2026-08-07T12:20:27.4860000Z</dcterms:modified>
</coreProperties>
</file>